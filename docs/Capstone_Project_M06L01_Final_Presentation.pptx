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Aptos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Sheet1!$A$2:$A$12</c:f>
              <c:strCache>
                <c:ptCount val="11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  <c:pt idx="7">
                  <c:v>15:00</c:v>
                </c:pt>
                <c:pt idx="8">
                  <c:v>16:00</c:v>
                </c:pt>
                <c:pt idx="9">
                  <c:v>17:00</c:v>
                </c:pt>
                <c:pt idx="10">
                  <c:v>18:00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</c:v>
                </c:pt>
                <c:pt idx="1">
                  <c:v>15</c:v>
                </c:pt>
                <c:pt idx="2">
                  <c:v>14</c:v>
                </c:pt>
                <c:pt idx="3">
                  <c:v>17</c:v>
                </c:pt>
                <c:pt idx="4">
                  <c:v>18</c:v>
                </c:pt>
                <c:pt idx="5">
                  <c:v>12</c:v>
                </c:pt>
                <c:pt idx="6">
                  <c:v>13</c:v>
                </c:pt>
                <c:pt idx="7">
                  <c:v>19</c:v>
                </c:pt>
                <c:pt idx="8">
                  <c:v>18</c:v>
                </c:pt>
                <c:pt idx="9">
                  <c:v>20</c:v>
                </c:pt>
                <c:pt idx="10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Aptos"/>
              </a:defRPr>
            </a:pP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Sheet1!$A$2:$A$7</c:f>
              <c:strCache>
                <c:ptCount val="6"/>
                <c:pt idx="0">
                  <c:v>General Medicine</c:v>
                </c:pt>
                <c:pt idx="1">
                  <c:v>Neurology</c:v>
                </c:pt>
                <c:pt idx="2">
                  <c:v>Orthopedics</c:v>
                </c:pt>
                <c:pt idx="3">
                  <c:v>Pediatric</c:v>
                </c:pt>
                <c:pt idx="4">
                  <c:v>Cardiology</c:v>
                </c:pt>
                <c:pt idx="5">
                  <c:v>Oncology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43.84615384615385</c:v>
                </c:pt>
                <c:pt idx="1">
                  <c:v>42.794117647058826</c:v>
                </c:pt>
                <c:pt idx="2">
                  <c:v>42.41379310344828</c:v>
                </c:pt>
                <c:pt idx="3">
                  <c:v>41.351351351351354</c:v>
                </c:pt>
                <c:pt idx="4">
                  <c:v>40.0</c:v>
                </c:pt>
                <c:pt idx="5">
                  <c:v>39.375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Aptos"/>
              </a:defRPr>
            </a:pP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Sheet1!$A$2:$A$7</c:f>
              <c:strCache>
                <c:ptCount val="6"/>
                <c:pt idx="0">
                  <c:v>General Medicine</c:v>
                </c:pt>
                <c:pt idx="1">
                  <c:v>Orthopedics</c:v>
                </c:pt>
                <c:pt idx="2">
                  <c:v>Neurology</c:v>
                </c:pt>
                <c:pt idx="3">
                  <c:v>Pediatric</c:v>
                </c:pt>
                <c:pt idx="4">
                  <c:v>Oncology</c:v>
                </c:pt>
                <c:pt idx="5">
                  <c:v>Cardiology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5.384615384615385</c:v>
                </c:pt>
                <c:pt idx="1">
                  <c:v>5.931034482758621</c:v>
                </c:pt>
                <c:pt idx="2">
                  <c:v>6.264705882352941</c:v>
                </c:pt>
                <c:pt idx="3">
                  <c:v>6.324324324324325</c:v>
                </c:pt>
                <c:pt idx="4">
                  <c:v>6.5</c:v>
                </c:pt>
                <c:pt idx="5">
                  <c:v>7.03030303030303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Aptos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Sheet1!$A$2:$A$7</c:f>
              <c:strCache>
                <c:ptCount val="6"/>
                <c:pt idx="0">
                  <c:v>Pediatric</c:v>
                </c:pt>
                <c:pt idx="1">
                  <c:v>Cardiology</c:v>
                </c:pt>
                <c:pt idx="2">
                  <c:v>Neurology</c:v>
                </c:pt>
                <c:pt idx="3">
                  <c:v>Oncology</c:v>
                </c:pt>
                <c:pt idx="4">
                  <c:v>General Medicine</c:v>
                </c:pt>
                <c:pt idx="5">
                  <c:v>Orthopedics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4.85</c:v>
                </c:pt>
                <c:pt idx="1">
                  <c:v>4.181818181818182</c:v>
                </c:pt>
                <c:pt idx="2">
                  <c:v>3.7941176470588234</c:v>
                </c:pt>
                <c:pt idx="3">
                  <c:v>3.5555555555555554</c:v>
                </c:pt>
                <c:pt idx="4">
                  <c:v>3.41025641025641</c:v>
                </c:pt>
                <c:pt idx="5">
                  <c:v>3.3703703703703702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Enhancing Operational Efficiency
and Patient Experience at HealthFirst Care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DDEBF7"/>
                </a:solidFill>
                <a:latin typeface="Aptos"/>
              </a:rPr>
              <a:t>Final Case Study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800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FFFFFF"/>
                </a:solidFill>
                <a:latin typeface="Aptos"/>
              </a:rPr>
              <a:t>Pritam Kar
Junior Data Analyst</a:t>
            </a:r>
            <a:r>
              <a:rPr sz="1100">
                <a:solidFill>
                  <a:srgbClr val="B8C7D9"/>
                </a:solidFill>
              </a:rPr>
              <a:t>
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ptos"/>
              </a:rPr>
              <a:t>The analysis identifies three operational bottlenecks and a focused digital improvement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41.4 min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Average patient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560320" cy="1143000"/>
          </a:xfrm>
          <a:prstGeom prst="roundRect">
            <a:avLst/>
          </a:prstGeom>
          <a:solidFill>
            <a:srgbClr val="FCE4D6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32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Double-booking incidents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2560320" cy="1143000"/>
          </a:xfrm>
          <a:prstGeom prst="roundRect">
            <a:avLst/>
          </a:prstGeom>
          <a:solidFill>
            <a:srgbClr val="E2F0D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42.7%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Resource availability deficit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25880"/>
            <a:ext cx="256032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6.3 / 10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Average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Scheduling is fragmented, with manual availability checks and legacy booking workflows.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Peak demand is concentrated around 17:00–18:30, increasing pressure on the scheduling system.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Patients need timely delay notifications and easier self-service rescheduling.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The proposed solution combines automated conflict prevention, live resource tracking, patient notifications, and operational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HealthFirst Care Initiative • Capstone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Requirements Gathering &amp; Stakeholder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06040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7365D"/>
                </a:solidFill>
                <a:latin typeface="Aptos"/>
              </a:rPr>
              <a:t>Patients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Reduce waiting and booking friction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Receive live delay updates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Use accessible self-service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325880"/>
            <a:ext cx="2606040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7365D"/>
                </a:solidFill>
                <a:latin typeface="Aptos"/>
              </a:rPr>
              <a:t>Doctors &amp; Nurses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Prevent double bookings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Balance workloads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See room/equipment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4" y="1325880"/>
            <a:ext cx="2606040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7365D"/>
                </a:solidFill>
                <a:latin typeface="Aptos"/>
              </a:rPr>
              <a:t>Administrative Staff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Reduce manual entry errors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Centralize scheduling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Prevent calendar overlaps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26296" y="1325880"/>
            <a:ext cx="2606040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7365D"/>
                </a:solidFill>
                <a:latin typeface="Aptos"/>
              </a:rPr>
              <a:t>IT &amp; Operations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Integrate with legacy data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Ensure scalability at peak</a:t>
            </a:r>
          </a:p>
          <a:p>
            <a:pPr>
              <a:spcBef>
                <a:spcPts val="12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Maintain security &amp; HIPAA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HealthFirst Care Initiative • Capstone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Current-State Process: Where Bottlenecks Occur</a:t>
            </a:r>
          </a:p>
        </p:txBody>
      </p:sp>
      <p:pic>
        <p:nvPicPr>
          <p:cNvPr id="4" name="Picture 3" descr="as_is_proce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315200" cy="731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41732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Manual paperwork and booking entry add friction at the front desk.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Manual availability checks create scheduling delays and conflicts.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current model records 41.4 minutes average wait time.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32 double-bookings and 42.7% unavailable/maintenance resources indicate control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Source: As-Is Process Model + BRD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Process Improvement: Future-State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ptos"/>
              </a:rPr>
              <a:t>Automate the highest-friction steps while keeping clinical decisions under staff control.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566928" cy="566928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196596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Request / Reschedule</a:t>
            </a:r>
          </a:p>
          <a:p>
            <a:pPr algn="ctr"/>
            <a:r>
              <a:rPr sz="1000">
                <a:solidFill>
                  <a:srgbClr val="263238"/>
                </a:solidFill>
              </a:rPr>
              <a:t>Patient portal or staff entry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1720" y="3090672"/>
            <a:ext cx="411480" cy="41148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7208" y="1828800"/>
            <a:ext cx="566928" cy="566928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2514600"/>
            <a:ext cx="196596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Validate</a:t>
            </a:r>
          </a:p>
          <a:p>
            <a:pPr algn="ctr"/>
            <a:r>
              <a:rPr sz="1000">
                <a:solidFill>
                  <a:srgbClr val="263238"/>
                </a:solidFill>
              </a:rPr>
              <a:t>Check doctor + room + equipment availability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36008" y="3090672"/>
            <a:ext cx="411480" cy="41148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1496" y="1828800"/>
            <a:ext cx="566928" cy="566928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2514600"/>
            <a:ext cx="196596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Confirm</a:t>
            </a:r>
          </a:p>
          <a:p>
            <a:pPr algn="ctr"/>
            <a:r>
              <a:rPr sz="1000">
                <a:solidFill>
                  <a:srgbClr val="263238"/>
                </a:solidFill>
              </a:rPr>
              <a:t>Automated conflict prevention; no occupied slots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40296" y="3090672"/>
            <a:ext cx="411480" cy="41148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15784" y="1828800"/>
            <a:ext cx="566928" cy="566928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2514600"/>
            <a:ext cx="196596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Notify</a:t>
            </a:r>
          </a:p>
          <a:p>
            <a:pPr algn="ctr"/>
            <a:r>
              <a:rPr sz="1000">
                <a:solidFill>
                  <a:srgbClr val="263238"/>
                </a:solidFill>
              </a:rPr>
              <a:t>SMS/Email confirmation, reminders, delay alerts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44584" y="3090672"/>
            <a:ext cx="411480" cy="41148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72" y="1828800"/>
            <a:ext cx="566928" cy="566928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2514600"/>
            <a:ext cx="1965960" cy="1828800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7365D"/>
                </a:solidFill>
              </a:rPr>
              <a:t>Track</a:t>
            </a:r>
          </a:p>
          <a:p>
            <a:pPr algn="ctr"/>
            <a:r>
              <a:rPr sz="1000">
                <a:solidFill>
                  <a:srgbClr val="263238"/>
                </a:solidFill>
              </a:rPr>
              <a:t>Live queue + resource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Future state synthesized from BRD/RTM functional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Data Analysis Insight 1: Peak Appointment Demand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68580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141732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workbook shows 18:00 as the busiest hour, with 27 appointments.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BRD identifies 17:00–18:30 as the peak booking window.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Peak-load performance is therefore a key scalability and scheduling-control requirement.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NFR-01 targets 99.9% uptime during peak booking windows.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Source: appointment_data workbook; BRD/RTM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Data Analysis Insight 2: Wait Time &amp; Satisfaction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34440"/>
          <a:ext cx="5394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234440"/>
          <a:ext cx="53949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Workbook cleaned data; BRD acceptance baseline: 41.4 min wait and 6.3/10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Data Analysis Insight 3: Resource Utilization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417320"/>
            <a:ext cx="3886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Workbook analysis shows Pediatric with the highest average usage hours (4.85).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BRD reports a 42.7% resource availability deficit.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Orthopedics is highlighted in the BRD for workload strain at 7.86 usage hours/day.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FR-02 requires real-time status for doctors, rooms, and equipment.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Source: resource_data workbook + BRD/RTM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Risk Management: Priority Risks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4754880" cy="4480560"/>
          </a:xfrm>
          <a:prstGeom prst="rect">
            <a:avLst/>
          </a:prstGeom>
          <a:solidFill>
            <a:srgbClr val="F9FBFD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21991" y="1325880"/>
            <a:ext cx="9144" cy="448056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3904" y="1325880"/>
            <a:ext cx="9144" cy="448056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16352"/>
            <a:ext cx="4754880" cy="914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306824"/>
            <a:ext cx="4754880" cy="914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5925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Aptos"/>
              </a:rPr>
              <a:t>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33375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Aptos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6509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Aptos"/>
              </a:rP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56509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Aptos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56509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Aptos"/>
              </a:rPr>
              <a:t>High</a:t>
            </a:r>
          </a:p>
        </p:txBody>
      </p:sp>
      <p:sp>
        <p:nvSpPr>
          <p:cNvPr id="14" name="Oval 13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/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4526280" y="24688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/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2926080" y="32461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/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/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2926080" y="39319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/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234440"/>
            <a:ext cx="580644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7365D"/>
                </a:solidFill>
              </a:rPr>
              <a:t>Legacy interoperability</a:t>
            </a:r>
            <a:r>
              <a:rPr sz="900">
                <a:solidFill>
                  <a:srgbClr val="6B7280"/>
                </a:solidFill>
              </a:rPr>
              <a:t>  |  Likelihood: High  |  Impact: High</a:t>
            </a:r>
          </a:p>
          <a:p>
            <a:r>
              <a:rPr sz="950">
                <a:solidFill>
                  <a:srgbClr val="263238"/>
                </a:solidFill>
              </a:rPr>
              <a:t>Mitigation: Secure interface; phased integration; avoid forced full migration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67128"/>
            <a:ext cx="580644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7365D"/>
                </a:solidFill>
              </a:rPr>
              <a:t>Peak-hour performance</a:t>
            </a:r>
            <a:r>
              <a:rPr sz="900">
                <a:solidFill>
                  <a:srgbClr val="6B7280"/>
                </a:solidFill>
              </a:rPr>
              <a:t>  |  Likelihood: High  |  Impact: High</a:t>
            </a:r>
          </a:p>
          <a:p>
            <a:r>
              <a:rPr sz="950">
                <a:solidFill>
                  <a:srgbClr val="263238"/>
                </a:solidFill>
              </a:rPr>
              <a:t>Mitigation: Cloud scalability; load testing; monitor 17:00–18:30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099816"/>
            <a:ext cx="580644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7365D"/>
                </a:solidFill>
              </a:rPr>
              <a:t>Staff adoption</a:t>
            </a:r>
            <a:r>
              <a:rPr sz="900">
                <a:solidFill>
                  <a:srgbClr val="6B7280"/>
                </a:solidFill>
              </a:rPr>
              <a:t>  |  Likelihood: Med  |  Impact: High</a:t>
            </a:r>
          </a:p>
          <a:p>
            <a:r>
              <a:rPr sz="950">
                <a:solidFill>
                  <a:srgbClr val="263238"/>
                </a:solidFill>
              </a:rPr>
              <a:t>Mitigation: Mandatory training; workflow demos; weekly feedback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032504"/>
            <a:ext cx="580644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7365D"/>
                </a:solidFill>
              </a:rPr>
              <a:t>Data security / HIPAA</a:t>
            </a:r>
            <a:r>
              <a:rPr sz="900">
                <a:solidFill>
                  <a:srgbClr val="6B7280"/>
                </a:solidFill>
              </a:rPr>
              <a:t>  |  Likelihood: High  |  Impact: High</a:t>
            </a:r>
          </a:p>
          <a:p>
            <a:r>
              <a:rPr sz="950">
                <a:solidFill>
                  <a:srgbClr val="263238"/>
                </a:solidFill>
              </a:rPr>
              <a:t>Mitigation: RBAC, encryption, compliance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965192"/>
            <a:ext cx="580644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7365D"/>
                </a:solidFill>
              </a:rPr>
              <a:t>Budget constraints</a:t>
            </a:r>
            <a:r>
              <a:rPr sz="900">
                <a:solidFill>
                  <a:srgbClr val="6B7280"/>
                </a:solidFill>
              </a:rPr>
              <a:t>  |  Likelihood: Med  |  Impact: High</a:t>
            </a:r>
          </a:p>
          <a:p>
            <a:r>
              <a:rPr sz="950">
                <a:solidFill>
                  <a:srgbClr val="263238"/>
                </a:solidFill>
              </a:rPr>
              <a:t>Mitigation: Prioritize Must-Have requirements; phased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Risk themes are based on documented BRD constraints/requirements; no separate Risk Management Plan was provided.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Recommendations &amp; Target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7365D"/>
                </a:solidFill>
              </a:rPr>
              <a:t>1. Automate scheduling — </a:t>
            </a:r>
            <a:r>
              <a:rPr sz="1200">
                <a:solidFill>
                  <a:srgbClr val="263238"/>
                </a:solidFill>
              </a:rPr>
              <a:t>Deploy conflict validation before confirmation to target 0 double bookings.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1078992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7365D"/>
                </a:solidFill>
              </a:rPr>
              <a:t>2. Introduce live resource tracking — </a:t>
            </a:r>
            <a:r>
              <a:rPr sz="1200">
                <a:solidFill>
                  <a:srgbClr val="263238"/>
                </a:solidFill>
              </a:rPr>
              <a:t>Show Available / In Use / Under Maintenance and rebalance peak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1078992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7365D"/>
                </a:solidFill>
              </a:rPr>
              <a:t>3. Improve patient communication — </a:t>
            </a:r>
            <a:r>
              <a:rPr sz="1200">
                <a:solidFill>
                  <a:srgbClr val="263238"/>
                </a:solidFill>
              </a:rPr>
              <a:t>Send 24-hour reminders plus immediate schedule-change and delay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14800"/>
            <a:ext cx="1078992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7365D"/>
                </a:solidFill>
              </a:rPr>
              <a:t>4. Build operational dashboards — </a:t>
            </a:r>
            <a:r>
              <a:rPr sz="1200">
                <a:solidFill>
                  <a:srgbClr val="263238"/>
                </a:solidFill>
              </a:rPr>
              <a:t>Monitor wait time, satisfaction, appointment outcomes and resource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74920"/>
            <a:ext cx="10789920" cy="841248"/>
          </a:xfrm>
          <a:prstGeom prst="roundRect">
            <a:avLst/>
          </a:prstGeom>
          <a:solidFill>
            <a:srgbClr val="F3F6F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7365D"/>
                </a:solidFill>
              </a:rPr>
              <a:t>5. Roll out in phases — </a:t>
            </a:r>
            <a:r>
              <a:rPr sz="1200">
                <a:solidFill>
                  <a:srgbClr val="263238"/>
                </a:solidFill>
              </a:rPr>
              <a:t>Prioritize Must-Have requirements, train staff, and validate acceptance criteria.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HealthFirst Care Initiative • Capstone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ptos"/>
              </a:rPr>
              <a:t>Success Measures: 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777240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1325880"/>
            <a:ext cx="2103120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25880"/>
            <a:ext cx="1828800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1325880"/>
            <a:ext cx="1920240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325880"/>
            <a:ext cx="3840480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Success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777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AC-01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920240"/>
            <a:ext cx="21031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Patient wait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20240"/>
            <a:ext cx="182880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41.4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920240"/>
            <a:ext cx="1920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≤ 33.1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920240"/>
            <a:ext cx="38404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At least 20%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777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AC-02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2761488"/>
            <a:ext cx="21031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Double bookings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761488"/>
            <a:ext cx="182880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32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761488"/>
            <a:ext cx="1920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761488"/>
            <a:ext cx="38404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100% automated conflict prevention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02736"/>
            <a:ext cx="777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AC-03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602736"/>
            <a:ext cx="21031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Patient satisfaction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602736"/>
            <a:ext cx="182880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6.3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3602736"/>
            <a:ext cx="1920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≥ 8.0 /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3602736"/>
            <a:ext cx="38404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Improve experience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43984"/>
            <a:ext cx="777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AC-04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443984"/>
            <a:ext cx="21031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Resource 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443984"/>
            <a:ext cx="182880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45.1% 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4443984"/>
            <a:ext cx="192024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≥ 70%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4443984"/>
            <a:ext cx="384048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263238"/>
                </a:solidFill>
                <a:latin typeface="Aptos"/>
              </a:rPr>
              <a:t>During peak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Note: AC-04 baseline/target wording follows the BRD. The workbook contains cleaned resource records, while the BRD acceptance criteria use the project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Source: BRD acceptance criteria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>
                <a:latin typeface="Aptos"/>
              </a:rPr>
              <a:t>From fragmented workflows to
measurable operational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From fragmented workflows to
measurable operational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246120"/>
            <a:ext cx="2286000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≤ 33.1 min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Wait-time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3246120"/>
            <a:ext cx="2286000" cy="1143000"/>
          </a:xfrm>
          <a:prstGeom prst="roundRect">
            <a:avLst/>
          </a:prstGeom>
          <a:solidFill>
            <a:srgbClr val="E2F0D9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0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Double bookings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246120"/>
            <a:ext cx="228600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≥ 8.0/10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Satisfaction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246120"/>
            <a:ext cx="2286000" cy="1143000"/>
          </a:xfrm>
          <a:prstGeom prst="roundRect">
            <a:avLst/>
          </a:prstGeom>
          <a:solidFill>
            <a:srgbClr val="FCE4D6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7365D"/>
                </a:solidFill>
                <a:latin typeface="Aptos"/>
              </a:rPr>
              <a:t>≥ 70%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ptos"/>
              </a:rPr>
              <a:t>Resource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